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6" r:id="rId6"/>
    <p:sldId id="260" r:id="rId7"/>
    <p:sldId id="267" r:id="rId8"/>
    <p:sldId id="261" r:id="rId9"/>
    <p:sldId id="268" r:id="rId10"/>
    <p:sldId id="262" r:id="rId11"/>
    <p:sldId id="263" r:id="rId12"/>
    <p:sldId id="264" r:id="rId13"/>
    <p:sldId id="265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6216" y="821977"/>
            <a:ext cx="11155681" cy="48551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rPr lang="en-IN" dirty="0"/>
              <a:t>BAKERY </a:t>
            </a:r>
            <a:r>
              <a:rPr dirty="0"/>
              <a:t> SALES ANALYTICS &amp; INVENTORY LOSS PREVENTION</a:t>
            </a:r>
          </a:p>
          <a:p>
            <a:pPr>
              <a:spcBef>
                <a:spcPts val="800"/>
              </a:spcBef>
              <a:defRPr sz="1800">
                <a:solidFill>
                  <a:srgbClr val="DC641E"/>
                </a:solidFill>
              </a:defRPr>
            </a:pPr>
            <a:r>
              <a:rPr dirty="0"/>
              <a:t>End-to-End Diagnostic Analytics, Data Quality &amp; Profitability Case Study</a:t>
            </a:r>
            <a:endParaRPr lang="en-IN" dirty="0"/>
          </a:p>
          <a:p>
            <a:pPr>
              <a:spcBef>
                <a:spcPts val="800"/>
              </a:spcBef>
              <a:defRPr sz="1800">
                <a:solidFill>
                  <a:srgbClr val="DC641E"/>
                </a:solidFill>
              </a:defRPr>
            </a:pPr>
            <a:endParaRPr lang="en-IN" dirty="0"/>
          </a:p>
          <a:p>
            <a:pPr>
              <a:spcBef>
                <a:spcPts val="800"/>
              </a:spcBef>
              <a:defRPr sz="1800">
                <a:solidFill>
                  <a:srgbClr val="DC641E"/>
                </a:solidFill>
              </a:defRPr>
            </a:pPr>
            <a:endParaRPr dirty="0"/>
          </a:p>
          <a:p>
            <a:pPr>
              <a:spcBef>
                <a:spcPts val="2000"/>
              </a:spcBef>
              <a:defRPr sz="1300">
                <a:solidFill>
                  <a:srgbClr val="C8D7EB"/>
                </a:solidFill>
              </a:defRPr>
            </a:pPr>
            <a:r>
              <a:rPr sz="1600" dirty="0"/>
              <a:t>• Scope: FMCG Bakery Chain | 16,569 Transactions | $3.44M Gross Revenue | 3 Store Locations</a:t>
            </a:r>
            <a:endParaRPr lang="en-IN" sz="1600" dirty="0"/>
          </a:p>
          <a:p>
            <a:pPr>
              <a:spcBef>
                <a:spcPts val="2000"/>
              </a:spcBef>
              <a:defRPr sz="1300">
                <a:solidFill>
                  <a:srgbClr val="C8D7EB"/>
                </a:solidFill>
              </a:defRPr>
            </a:pPr>
            <a:br>
              <a:rPr sz="1600" dirty="0">
                <a:solidFill>
                  <a:srgbClr val="C8D7EB"/>
                </a:solidFill>
              </a:rPr>
            </a:br>
            <a:r>
              <a:rPr sz="1600" dirty="0">
                <a:solidFill>
                  <a:srgbClr val="C8D7EB"/>
                </a:solidFill>
              </a:rPr>
              <a:t>• Architecture: Python (Data Cleaning &amp; Quality) ➔ SQL (PostgreSQL Analytics) ➔ Power BI (Executive Dashboards)</a:t>
            </a:r>
            <a:endParaRPr lang="en-IN" sz="1600" dirty="0">
              <a:solidFill>
                <a:srgbClr val="C8D7EB"/>
              </a:solidFill>
            </a:endParaRPr>
          </a:p>
          <a:p>
            <a:pPr>
              <a:spcBef>
                <a:spcPts val="2000"/>
              </a:spcBef>
              <a:defRPr sz="1300">
                <a:solidFill>
                  <a:srgbClr val="C8D7EB"/>
                </a:solidFill>
              </a:defRPr>
            </a:pPr>
            <a:br>
              <a:rPr sz="1600" dirty="0">
                <a:solidFill>
                  <a:srgbClr val="C8D7EB"/>
                </a:solidFill>
              </a:rPr>
            </a:br>
            <a:r>
              <a:rPr sz="1600" dirty="0">
                <a:solidFill>
                  <a:srgbClr val="C8D7EB"/>
                </a:solidFill>
              </a:rPr>
              <a:t>• Core Impact: Diagnosed $1.39M in Inventory Waste and modeled a +$255K Financial Recovery Plan</a:t>
            </a:r>
            <a:endParaRPr lang="en-IN" sz="1600" dirty="0">
              <a:solidFill>
                <a:srgbClr val="C8D7EB"/>
              </a:solidFill>
            </a:endParaRPr>
          </a:p>
          <a:p>
            <a:pPr>
              <a:spcBef>
                <a:spcPts val="2000"/>
              </a:spcBef>
              <a:defRPr sz="1300">
                <a:solidFill>
                  <a:srgbClr val="C8D7EB"/>
                </a:solidFill>
              </a:defRPr>
            </a:pPr>
            <a:endParaRPr sz="1600" dirty="0">
              <a:solidFill>
                <a:srgbClr val="C8D7EB"/>
              </a:solidFill>
            </a:endParaRPr>
          </a:p>
          <a:p>
            <a:pPr>
              <a:spcBef>
                <a:spcPts val="2500"/>
              </a:spcBef>
              <a:defRPr sz="1200" b="1">
                <a:solidFill>
                  <a:srgbClr val="FFFFFF"/>
                </a:solidFill>
              </a:defRPr>
            </a:pPr>
            <a:r>
              <a:rPr dirty="0"/>
              <a:t>Prepared By: Hanraj Hari Krishna | Data Analyst | Hyderabad, India</a:t>
            </a:r>
            <a:br>
              <a:rPr dirty="0"/>
            </a:br>
            <a:r>
              <a:rPr dirty="0"/>
              <a:t>📧 hanrajharikrishna@gmail.com | 🔗 linkedin.com/in/hari-krishna-178397145 | 💻 github.com/</a:t>
            </a:r>
            <a:r>
              <a:rPr dirty="0" err="1"/>
              <a:t>harikrishna</a:t>
            </a:r>
            <a:r>
              <a:rPr dirty="0"/>
              <a:t>-analytics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4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tIns="137160" rtlCol="0" anchor="ctr"/>
          <a:lstStyle/>
          <a:p>
            <a:pPr algn="ctr">
              <a:defRPr sz="1100" b="1">
                <a:solidFill>
                  <a:srgbClr val="DC641E"/>
                </a:solidFill>
              </a:defRPr>
            </a:pPr>
            <a:r>
              <a:t>PORTFOLIO CASE STUDY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Executive Summary &amp; Core Business Problem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371600"/>
            <a:ext cx="3566160" cy="493776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tIns="182880" rIns="182880" rtlCol="0" anchor="ctr"/>
          <a:lstStyle/>
          <a:p>
            <a:pPr algn="ctr">
              <a:defRPr sz="1400" b="1">
                <a:solidFill>
                  <a:srgbClr val="14233C"/>
                </a:solidFill>
              </a:defRPr>
            </a:pPr>
            <a:r>
              <a:t>Macro Financials ($3.44M Sales)</a:t>
            </a:r>
          </a:p>
          <a:p>
            <a:pPr>
              <a:spcBef>
                <a:spcPts val="1200"/>
              </a:spcBef>
              <a:defRPr sz="1100">
                <a:solidFill>
                  <a:srgbClr val="1E1E1E"/>
                </a:solidFill>
              </a:defRPr>
            </a:pPr>
            <a:r>
              <a:t>• Total Revenue: $3,444,112.95 generated across 16,569 transactions.</a:t>
            </a:r>
          </a:p>
          <a:p>
            <a:pPr>
              <a:spcBef>
                <a:spcPts val="1200"/>
              </a:spcBef>
              <a:defRPr sz="1100">
                <a:solidFill>
                  <a:srgbClr val="1E1E1E"/>
                </a:solidFill>
              </a:defRPr>
            </a:pPr>
            <a:r>
              <a:t>• High Demand: 42,924 units sold with an Average Order Value (AOV) of $207.86.</a:t>
            </a:r>
          </a:p>
          <a:p>
            <a:pPr>
              <a:spcBef>
                <a:spcPts val="1200"/>
              </a:spcBef>
              <a:defRPr sz="1100">
                <a:solidFill>
                  <a:srgbClr val="1E1E1E"/>
                </a:solidFill>
              </a:defRPr>
            </a:pPr>
            <a:r>
              <a:t>• Healthy Store Parity: Top sales spread evenly across 3 store locations.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297679" y="1371600"/>
            <a:ext cx="3566160" cy="493776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tIns="182880" rIns="182880" rtlCol="0" anchor="ctr"/>
          <a:lstStyle/>
          <a:p>
            <a:pPr algn="ctr">
              <a:defRPr sz="1400" b="1">
                <a:solidFill>
                  <a:srgbClr val="14233C"/>
                </a:solidFill>
              </a:defRPr>
            </a:pPr>
            <a:r>
              <a:t>The Net Profit Dilemma (-$230.34K)</a:t>
            </a:r>
          </a:p>
          <a:p>
            <a:pPr>
              <a:spcBef>
                <a:spcPts val="1200"/>
              </a:spcBef>
              <a:defRPr sz="1100">
                <a:solidFill>
                  <a:srgbClr val="1E1E1E"/>
                </a:solidFill>
              </a:defRPr>
            </a:pPr>
            <a:r>
              <a:t>• Operational Deficit: Business ran at a net operating loss of -$230,340.</a:t>
            </a:r>
          </a:p>
          <a:p>
            <a:pPr>
              <a:spcBef>
                <a:spcPts val="1200"/>
              </a:spcBef>
              <a:defRPr sz="1100">
                <a:solidFill>
                  <a:srgbClr val="1E1E1E"/>
                </a:solidFill>
              </a:defRPr>
            </a:pPr>
            <a:r>
              <a:t>• Demand-Profit Paradox: Top revenue categories (Cakes &amp; Dairy) generated the highest net losses.</a:t>
            </a:r>
          </a:p>
          <a:p>
            <a:pPr>
              <a:spcBef>
                <a:spcPts val="1200"/>
              </a:spcBef>
              <a:defRPr sz="1100">
                <a:solidFill>
                  <a:srgbClr val="1E1E1E"/>
                </a:solidFill>
              </a:defRPr>
            </a:pPr>
            <a:r>
              <a:t>• Top-Line Illusion: High gross sales obscured underlying inventory profit drains.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46719" y="1371600"/>
            <a:ext cx="3566160" cy="493776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tIns="182880" rIns="182880" rtlCol="0" anchor="ctr"/>
          <a:lstStyle/>
          <a:p>
            <a:pPr algn="ctr">
              <a:defRPr sz="1400" b="1">
                <a:solidFill>
                  <a:srgbClr val="14233C"/>
                </a:solidFill>
              </a:defRPr>
            </a:pPr>
            <a:r>
              <a:t>Root Cause: $1.39M Waste Bleed</a:t>
            </a:r>
          </a:p>
          <a:p>
            <a:pPr>
              <a:spcBef>
                <a:spcPts val="1200"/>
              </a:spcBef>
              <a:defRPr sz="1100">
                <a:solidFill>
                  <a:srgbClr val="1E1E1E"/>
                </a:solidFill>
              </a:defRPr>
            </a:pPr>
            <a:r>
              <a:t>• Overproduction Exposure: $1.39M spent on expired, unsold inventory.</a:t>
            </a:r>
          </a:p>
          <a:p>
            <a:pPr>
              <a:spcBef>
                <a:spcPts val="1200"/>
              </a:spcBef>
              <a:defRPr sz="1100">
                <a:solidFill>
                  <a:srgbClr val="1E1E1E"/>
                </a:solidFill>
              </a:defRPr>
            </a:pPr>
            <a:r>
              <a:t>• Perishability Disconnect: Static production schedules failed to match daily sales velocity.</a:t>
            </a:r>
          </a:p>
          <a:p>
            <a:pPr>
              <a:spcBef>
                <a:spcPts val="1200"/>
              </a:spcBef>
              <a:defRPr sz="1100">
                <a:solidFill>
                  <a:srgbClr val="1E1E1E"/>
                </a:solidFill>
              </a:defRPr>
            </a:pPr>
            <a:r>
              <a:t>• Recovery Roadmap: Transition to daily batch baking reclaims ~$486K annually.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4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tIns="137160" rtlCol="0" anchor="ctr"/>
          <a:lstStyle/>
          <a:p>
            <a:pPr algn="ctr">
              <a:defRPr sz="1100" b="1">
                <a:solidFill>
                  <a:srgbClr val="DC641E"/>
                </a:solidFill>
              </a:defRPr>
            </a:pPr>
            <a:r>
              <a:t>PORTFOLIO CASE STUDY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End-to-End Technical Architecture &amp; Data Pipeline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371600"/>
            <a:ext cx="3566160" cy="4937760"/>
          </a:xfrm>
          <a:prstGeom prst="roundRect">
            <a:avLst/>
          </a:prstGeom>
          <a:solidFill>
            <a:srgbClr val="F5F7FA"/>
          </a:solidFill>
          <a:ln w="2540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tIns="182880" rIns="182880" rtlCol="0" anchor="ctr"/>
          <a:lstStyle/>
          <a:p>
            <a:pPr algn="ctr">
              <a:defRPr sz="1300" b="1">
                <a:solidFill>
                  <a:srgbClr val="0078D4"/>
                </a:solidFill>
              </a:defRPr>
            </a:pPr>
            <a:r>
              <a:t>1. PYTHON (ETL &amp; Data Quality)</a:t>
            </a:r>
          </a:p>
          <a:p>
            <a:pPr>
              <a:spcBef>
                <a:spcPts val="1200"/>
              </a:spcBef>
              <a:defRPr sz="1100">
                <a:solidFill>
                  <a:srgbClr val="1E1E1E"/>
                </a:solidFill>
              </a:defRPr>
            </a:pPr>
            <a:r>
              <a:t>• Data Ingestion: Cleaned 16,569 rows and 41 attributes from raw store dumps.</a:t>
            </a:r>
          </a:p>
          <a:p>
            <a:pPr>
              <a:spcBef>
                <a:spcPts val="1200"/>
              </a:spcBef>
              <a:defRPr sz="1100">
                <a:solidFill>
                  <a:srgbClr val="1E1E1E"/>
                </a:solidFill>
              </a:defRPr>
            </a:pPr>
            <a:r>
              <a:t>• Validation Rules: Enforced data governance, missing value imputation, and type safety.</a:t>
            </a:r>
          </a:p>
          <a:p>
            <a:pPr>
              <a:spcBef>
                <a:spcPts val="1200"/>
              </a:spcBef>
              <a:defRPr sz="1100">
                <a:solidFill>
                  <a:srgbClr val="1E1E1E"/>
                </a:solidFill>
              </a:defRPr>
            </a:pPr>
            <a:r>
              <a:t>• Feature Engineering: Programmed margin functions: Net_Profit = Revenue - Cost - Waste.</a:t>
            </a:r>
          </a:p>
          <a:p>
            <a:pPr>
              <a:spcBef>
                <a:spcPts val="1200"/>
              </a:spcBef>
              <a:defRPr sz="1100">
                <a:solidFill>
                  <a:srgbClr val="1E1E1E"/>
                </a:solidFill>
              </a:defRPr>
            </a:pPr>
            <a:r>
              <a:t>• Statistical EDA: Identified expiry distribution patterns and waste correlation matrices.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297679" y="1371600"/>
            <a:ext cx="3566160" cy="4937760"/>
          </a:xfrm>
          <a:prstGeom prst="roundRect">
            <a:avLst/>
          </a:prstGeom>
          <a:solidFill>
            <a:srgbClr val="F5F7FA"/>
          </a:solidFill>
          <a:ln w="25400"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tIns="182880" rIns="182880" rtlCol="0" anchor="ctr"/>
          <a:lstStyle/>
          <a:p>
            <a:pPr algn="ctr">
              <a:defRPr sz="1300" b="1">
                <a:solidFill>
                  <a:srgbClr val="009688"/>
                </a:solidFill>
              </a:defRPr>
            </a:pPr>
            <a:r>
              <a:t>2. SQL (PostgreSQL Warehouse)</a:t>
            </a:r>
          </a:p>
          <a:p>
            <a:pPr>
              <a:spcBef>
                <a:spcPts val="1200"/>
              </a:spcBef>
              <a:defRPr sz="1100">
                <a:solidFill>
                  <a:srgbClr val="1E1E1E"/>
                </a:solidFill>
              </a:defRPr>
            </a:pPr>
            <a:r>
              <a:t>• Schema Normalization: Designed Fact_Transactions and Dimension tables (Products, Stores).</a:t>
            </a:r>
          </a:p>
          <a:p>
            <a:pPr>
              <a:spcBef>
                <a:spcPts val="1200"/>
              </a:spcBef>
              <a:defRPr sz="1100">
                <a:solidFill>
                  <a:srgbClr val="1E1E1E"/>
                </a:solidFill>
              </a:defRPr>
            </a:pPr>
            <a:r>
              <a:t>• Window Functions: Evaluated category performance using DENSE_RANK() &amp; SUM OVER.</a:t>
            </a:r>
          </a:p>
          <a:p>
            <a:pPr>
              <a:spcBef>
                <a:spcPts val="1200"/>
              </a:spcBef>
              <a:defRPr sz="1100">
                <a:solidFill>
                  <a:srgbClr val="1E1E1E"/>
                </a:solidFill>
              </a:defRPr>
            </a:pPr>
            <a:r>
              <a:t>• Aggregation CTEs: Isolated waste costs, loyalty segmentation, and promotional lift.</a:t>
            </a:r>
          </a:p>
          <a:p>
            <a:pPr>
              <a:spcBef>
                <a:spcPts val="1200"/>
              </a:spcBef>
              <a:defRPr sz="1100">
                <a:solidFill>
                  <a:srgbClr val="1E1E1E"/>
                </a:solidFill>
              </a:defRPr>
            </a:pPr>
            <a:r>
              <a:t>• Analytical Views: Exported high-performance aggregated analytical views for Power BI.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46719" y="1371600"/>
            <a:ext cx="3566160" cy="4937760"/>
          </a:xfrm>
          <a:prstGeom prst="roundRect">
            <a:avLst/>
          </a:prstGeom>
          <a:solidFill>
            <a:srgbClr val="F5F7FA"/>
          </a:solidFill>
          <a:ln w="25400">
            <a:solidFill>
              <a:srgbClr val="DC64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tIns="182880" rIns="182880" rtlCol="0" anchor="ctr"/>
          <a:lstStyle/>
          <a:p>
            <a:pPr algn="ctr">
              <a:defRPr sz="1300" b="1">
                <a:solidFill>
                  <a:srgbClr val="DC641E"/>
                </a:solidFill>
              </a:defRPr>
            </a:pPr>
            <a:r>
              <a:t>3. POWER BI (Executive Dashboards)</a:t>
            </a:r>
          </a:p>
          <a:p>
            <a:pPr>
              <a:spcBef>
                <a:spcPts val="1200"/>
              </a:spcBef>
              <a:defRPr sz="1100">
                <a:solidFill>
                  <a:srgbClr val="1E1E1E"/>
                </a:solidFill>
              </a:defRPr>
            </a:pPr>
            <a:r>
              <a:t>• Dynamic Dax Modeling: Built measures for MoM revenue change, AOV, and margin %.</a:t>
            </a:r>
          </a:p>
          <a:p>
            <a:pPr>
              <a:spcBef>
                <a:spcPts val="1200"/>
              </a:spcBef>
              <a:defRPr sz="1100">
                <a:solidFill>
                  <a:srgbClr val="1E1E1E"/>
                </a:solidFill>
              </a:defRPr>
            </a:pPr>
            <a:r>
              <a:t>• Executive Dashboards: Developed 3 interactive reporting tabs for business leaders.</a:t>
            </a:r>
          </a:p>
          <a:p>
            <a:pPr>
              <a:spcBef>
                <a:spcPts val="1200"/>
              </a:spcBef>
              <a:defRPr sz="1100">
                <a:solidFill>
                  <a:srgbClr val="1E1E1E"/>
                </a:solidFill>
              </a:defRPr>
            </a:pPr>
            <a:r>
              <a:t>• Drill-Down Analysis: Created cross-filtering across Season, Festival, Weather, and Store.</a:t>
            </a:r>
          </a:p>
          <a:p>
            <a:pPr>
              <a:spcBef>
                <a:spcPts val="1200"/>
              </a:spcBef>
              <a:defRPr sz="1100">
                <a:solidFill>
                  <a:srgbClr val="1E1E1E"/>
                </a:solidFill>
              </a:defRPr>
            </a:pPr>
            <a:r>
              <a:t>• Data Storytelling: Connected operational waste drivers to strategic business decisions.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4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tIns="137160" rtlCol="0" anchor="ctr"/>
          <a:lstStyle/>
          <a:p>
            <a:pPr algn="ctr">
              <a:defRPr sz="1100" b="1">
                <a:solidFill>
                  <a:srgbClr val="DC641E"/>
                </a:solidFill>
              </a:defRPr>
            </a:pPr>
            <a:r>
              <a:t>PORTFOLIO CASE STUDY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Dashboard Analysis: Executive Sales Overview</a:t>
            </a:r>
          </a:p>
        </p:txBody>
      </p:sp>
      <p:pic>
        <p:nvPicPr>
          <p:cNvPr id="3" name="Picture 2" descr="input_file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734" y="1104285"/>
            <a:ext cx="11636477" cy="566030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56E0175-B88F-5028-3A31-2E7F45D531D1}"/>
              </a:ext>
            </a:extLst>
          </p:cNvPr>
          <p:cNvSpPr txBox="1"/>
          <p:nvPr/>
        </p:nvSpPr>
        <p:spPr>
          <a:xfrm>
            <a:off x="0" y="127819"/>
            <a:ext cx="12024852" cy="5457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078D4"/>
                </a:solidFill>
              </a:defRPr>
            </a:pPr>
            <a:r>
              <a:rPr lang="en-US" sz="2400" dirty="0"/>
              <a:t>Visual Insights &amp; Revenue Drivers</a:t>
            </a:r>
          </a:p>
          <a:p>
            <a:pPr>
              <a:defRPr sz="1500" b="1">
                <a:solidFill>
                  <a:srgbClr val="0078D4"/>
                </a:solidFill>
              </a:defRPr>
            </a:pPr>
            <a:endParaRPr lang="en-US" sz="1500" dirty="0"/>
          </a:p>
          <a:p>
            <a:pPr>
              <a:defRPr sz="1500" b="1">
                <a:solidFill>
                  <a:srgbClr val="0078D4"/>
                </a:solidFill>
              </a:defRPr>
            </a:pPr>
            <a:endParaRPr lang="en-US" sz="1500" dirty="0"/>
          </a:p>
          <a:p>
            <a:pPr>
              <a:spcBef>
                <a:spcPts val="800"/>
              </a:spcBef>
              <a:defRPr sz="1050">
                <a:solidFill>
                  <a:srgbClr val="1E1E1E"/>
                </a:solidFill>
              </a:defRPr>
            </a:pPr>
            <a:r>
              <a:rPr lang="en-US" sz="1600" dirty="0"/>
              <a:t>• Top-Line Gross Sales: $3.44M generated across 17K transactions (16,569 actual) and 43K units.</a:t>
            </a:r>
          </a:p>
          <a:p>
            <a:pPr>
              <a:spcBef>
                <a:spcPts val="800"/>
              </a:spcBef>
              <a:defRPr sz="1050">
                <a:solidFill>
                  <a:srgbClr val="1E1E1E"/>
                </a:solidFill>
              </a:defRPr>
            </a:pPr>
            <a:endParaRPr lang="en-US" sz="1600" dirty="0"/>
          </a:p>
          <a:p>
            <a:pPr>
              <a:spcBef>
                <a:spcPts val="800"/>
              </a:spcBef>
              <a:defRPr sz="1050">
                <a:solidFill>
                  <a:srgbClr val="1E1E1E"/>
                </a:solidFill>
              </a:defRPr>
            </a:pPr>
            <a:endParaRPr lang="en-US" sz="1600" dirty="0"/>
          </a:p>
          <a:p>
            <a:pPr>
              <a:spcBef>
                <a:spcPts val="800"/>
              </a:spcBef>
              <a:defRPr sz="1050">
                <a:solidFill>
                  <a:srgbClr val="1E1E1E"/>
                </a:solidFill>
              </a:defRPr>
            </a:pPr>
            <a:r>
              <a:rPr lang="en-US" sz="1600" dirty="0"/>
              <a:t>• Order Economics: Average Order Value (AOV) stands strong at $207.86.</a:t>
            </a:r>
          </a:p>
          <a:p>
            <a:pPr>
              <a:spcBef>
                <a:spcPts val="800"/>
              </a:spcBef>
              <a:defRPr sz="1050">
                <a:solidFill>
                  <a:srgbClr val="1E1E1E"/>
                </a:solidFill>
              </a:defRPr>
            </a:pPr>
            <a:endParaRPr lang="en-US" sz="1600" dirty="0"/>
          </a:p>
          <a:p>
            <a:pPr>
              <a:spcBef>
                <a:spcPts val="800"/>
              </a:spcBef>
              <a:defRPr sz="1050">
                <a:solidFill>
                  <a:srgbClr val="1E1E1E"/>
                </a:solidFill>
              </a:defRPr>
            </a:pPr>
            <a:endParaRPr lang="en-US" sz="1600" dirty="0"/>
          </a:p>
          <a:p>
            <a:pPr>
              <a:spcBef>
                <a:spcPts val="800"/>
              </a:spcBef>
              <a:defRPr sz="1050">
                <a:solidFill>
                  <a:srgbClr val="1E1E1E"/>
                </a:solidFill>
              </a:defRPr>
            </a:pPr>
            <a:r>
              <a:rPr lang="en-US" sz="1600" dirty="0"/>
              <a:t>• Dominant Revenue Drivers: Cakes leads gross revenue at $1.29M (37.42%), followed by Spreads ($472K, 13.7%).</a:t>
            </a:r>
          </a:p>
          <a:p>
            <a:pPr>
              <a:spcBef>
                <a:spcPts val="800"/>
              </a:spcBef>
              <a:defRPr sz="1050">
                <a:solidFill>
                  <a:srgbClr val="1E1E1E"/>
                </a:solidFill>
              </a:defRPr>
            </a:pPr>
            <a:endParaRPr lang="en-US" sz="1600" dirty="0"/>
          </a:p>
          <a:p>
            <a:pPr>
              <a:spcBef>
                <a:spcPts val="800"/>
              </a:spcBef>
              <a:defRPr sz="1050">
                <a:solidFill>
                  <a:srgbClr val="1E1E1E"/>
                </a:solidFill>
              </a:defRPr>
            </a:pPr>
            <a:r>
              <a:rPr lang="en-US" sz="1600" dirty="0"/>
              <a:t>• Volume Champion: Beverages drives footfall with 7,574 units sold, outperforming Cakes (4,905 units).</a:t>
            </a:r>
          </a:p>
          <a:p>
            <a:pPr>
              <a:spcBef>
                <a:spcPts val="800"/>
              </a:spcBef>
              <a:defRPr sz="1050">
                <a:solidFill>
                  <a:srgbClr val="1E1E1E"/>
                </a:solidFill>
              </a:defRPr>
            </a:pPr>
            <a:endParaRPr lang="en-US" sz="1600" dirty="0"/>
          </a:p>
          <a:p>
            <a:pPr>
              <a:spcBef>
                <a:spcPts val="800"/>
              </a:spcBef>
              <a:defRPr sz="1050">
                <a:solidFill>
                  <a:srgbClr val="1E1E1E"/>
                </a:solidFill>
              </a:defRPr>
            </a:pPr>
            <a:endParaRPr lang="en-US" sz="1600" dirty="0"/>
          </a:p>
          <a:p>
            <a:pPr>
              <a:spcBef>
                <a:spcPts val="800"/>
              </a:spcBef>
              <a:defRPr sz="1050">
                <a:solidFill>
                  <a:srgbClr val="1E1E1E"/>
                </a:solidFill>
              </a:defRPr>
            </a:pPr>
            <a:r>
              <a:rPr lang="en-US" sz="1600" dirty="0"/>
              <a:t>• Demand Consistency: Monthly trends hold a stable baseline ($280K–$320K) with festive peaks in Q4.</a:t>
            </a:r>
          </a:p>
          <a:p>
            <a:pPr>
              <a:spcBef>
                <a:spcPts val="800"/>
              </a:spcBef>
              <a:defRPr sz="1050">
                <a:solidFill>
                  <a:srgbClr val="1E1E1E"/>
                </a:solidFill>
              </a:defRPr>
            </a:pP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2572112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4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tIns="137160" rtlCol="0" anchor="ctr"/>
          <a:lstStyle/>
          <a:p>
            <a:pPr algn="ctr">
              <a:defRPr sz="1100" b="1">
                <a:solidFill>
                  <a:srgbClr val="DC641E"/>
                </a:solidFill>
              </a:defRPr>
            </a:pPr>
            <a:r>
              <a:t>PORTFOLIO CASE STUDY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Dashboard Analysis: Category &amp; Product Performance</a:t>
            </a:r>
          </a:p>
        </p:txBody>
      </p:sp>
      <p:pic>
        <p:nvPicPr>
          <p:cNvPr id="3" name="Picture 2" descr="input_file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1005840"/>
            <a:ext cx="12191694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C579531-2E69-96F6-BBAA-20B6D7E860D5}"/>
              </a:ext>
            </a:extLst>
          </p:cNvPr>
          <p:cNvSpPr txBox="1"/>
          <p:nvPr/>
        </p:nvSpPr>
        <p:spPr>
          <a:xfrm>
            <a:off x="452284" y="383458"/>
            <a:ext cx="8691716" cy="52014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078D4"/>
                </a:solidFill>
              </a:defRPr>
            </a:pPr>
            <a:r>
              <a:rPr lang="en-IN" sz="2400" dirty="0"/>
              <a:t>Product Profitability Matrix</a:t>
            </a:r>
          </a:p>
          <a:p>
            <a:pPr>
              <a:defRPr sz="1500" b="1">
                <a:solidFill>
                  <a:srgbClr val="0078D4"/>
                </a:solidFill>
              </a:defRPr>
            </a:pPr>
            <a:endParaRPr lang="en-IN" sz="2400" dirty="0"/>
          </a:p>
          <a:p>
            <a:pPr>
              <a:spcBef>
                <a:spcPts val="800"/>
              </a:spcBef>
              <a:defRPr sz="1000">
                <a:solidFill>
                  <a:srgbClr val="1E1E1E"/>
                </a:solidFill>
              </a:defRPr>
            </a:pPr>
            <a:r>
              <a:rPr lang="en-IN" sz="1600" dirty="0"/>
              <a:t>• Revenue Concentration: Top 3 categories (Cakes, Spreads, Dairy) generate 61.6% ($2.12M) of sales.</a:t>
            </a:r>
          </a:p>
          <a:p>
            <a:pPr>
              <a:spcBef>
                <a:spcPts val="800"/>
              </a:spcBef>
              <a:defRPr sz="1000">
                <a:solidFill>
                  <a:srgbClr val="1E1E1E"/>
                </a:solidFill>
              </a:defRPr>
            </a:pPr>
            <a:endParaRPr lang="en-IN" sz="1600" dirty="0"/>
          </a:p>
          <a:p>
            <a:pPr>
              <a:spcBef>
                <a:spcPts val="800"/>
              </a:spcBef>
              <a:defRPr sz="1000">
                <a:solidFill>
                  <a:srgbClr val="1E1E1E"/>
                </a:solidFill>
              </a:defRPr>
            </a:pPr>
            <a:r>
              <a:rPr lang="en-IN" sz="1600" dirty="0"/>
              <a:t>• MoM Trajectory: Sharp drop-off from Cakes ($1.29M) down to lower revenue categories like Muffins ($85K).</a:t>
            </a:r>
          </a:p>
          <a:p>
            <a:pPr>
              <a:spcBef>
                <a:spcPts val="800"/>
              </a:spcBef>
              <a:defRPr sz="1000">
                <a:solidFill>
                  <a:srgbClr val="1E1E1E"/>
                </a:solidFill>
              </a:defRPr>
            </a:pPr>
            <a:endParaRPr lang="en-IN" sz="1600" dirty="0"/>
          </a:p>
          <a:p>
            <a:pPr>
              <a:spcBef>
                <a:spcPts val="800"/>
              </a:spcBef>
              <a:defRPr sz="1000">
                <a:solidFill>
                  <a:srgbClr val="1E1E1E"/>
                </a:solidFill>
              </a:defRPr>
            </a:pPr>
            <a:r>
              <a:rPr lang="en-IN" sz="1600" dirty="0"/>
              <a:t>• Granular Product Highlights:</a:t>
            </a:r>
          </a:p>
          <a:p>
            <a:pPr>
              <a:spcBef>
                <a:spcPts val="800"/>
              </a:spcBef>
              <a:defRPr sz="1000">
                <a:solidFill>
                  <a:srgbClr val="1E1E1E"/>
                </a:solidFill>
              </a:defRPr>
            </a:pPr>
            <a:br>
              <a:rPr lang="en-IN" sz="1600" dirty="0"/>
            </a:br>
            <a:r>
              <a:rPr lang="en-IN" sz="1600" dirty="0"/>
              <a:t>  - Black Forest Cake: $529.7K Sales | 1,259 Units | -$54.9K Net Profit</a:t>
            </a:r>
            <a:br>
              <a:rPr lang="en-IN" sz="1600" dirty="0"/>
            </a:br>
            <a:r>
              <a:rPr lang="en-IN" sz="1600" dirty="0"/>
              <a:t>  - Chocolate Cake: $531.1K Sales | 1,217 Units | -$40.0K Net Profit</a:t>
            </a:r>
            <a:br>
              <a:rPr lang="en-IN" sz="1600" dirty="0"/>
            </a:br>
            <a:r>
              <a:rPr lang="en-IN" sz="1600" dirty="0"/>
              <a:t>  - Bakery Staples (Bread): $105.1K Sales</a:t>
            </a:r>
          </a:p>
          <a:p>
            <a:pPr>
              <a:spcBef>
                <a:spcPts val="800"/>
              </a:spcBef>
              <a:defRPr sz="1000">
                <a:solidFill>
                  <a:srgbClr val="1E1E1E"/>
                </a:solidFill>
              </a:defRPr>
            </a:pPr>
            <a:endParaRPr lang="en-IN" sz="1600" dirty="0"/>
          </a:p>
          <a:p>
            <a:pPr>
              <a:spcBef>
                <a:spcPts val="800"/>
              </a:spcBef>
              <a:defRPr sz="1000">
                <a:solidFill>
                  <a:srgbClr val="1E1E1E"/>
                </a:solidFill>
              </a:defRPr>
            </a:pPr>
            <a:endParaRPr lang="en-IN" sz="1600" dirty="0"/>
          </a:p>
          <a:p>
            <a:pPr>
              <a:spcBef>
                <a:spcPts val="800"/>
              </a:spcBef>
              <a:defRPr sz="1000">
                <a:solidFill>
                  <a:srgbClr val="1E1E1E"/>
                </a:solidFill>
              </a:defRPr>
            </a:pPr>
            <a:r>
              <a:rPr lang="en-IN" sz="1600" dirty="0"/>
              <a:t>• Analytical Conclusion: Revenue rank does not equal profit rank. High-grossing cakes suffer severe margin erosion.</a:t>
            </a:r>
          </a:p>
        </p:txBody>
      </p:sp>
    </p:spTree>
    <p:extLst>
      <p:ext uri="{BB962C8B-B14F-4D97-AF65-F5344CB8AC3E}">
        <p14:creationId xmlns:p14="http://schemas.microsoft.com/office/powerpoint/2010/main" val="28937223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4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tIns="137160" rtlCol="0" anchor="ctr"/>
          <a:lstStyle/>
          <a:p>
            <a:pPr algn="ctr">
              <a:defRPr sz="1100" b="1">
                <a:solidFill>
                  <a:srgbClr val="DC641E"/>
                </a:solidFill>
              </a:defRPr>
            </a:pPr>
            <a:r>
              <a:t>PORTFOLIO CASE STUDY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Dashboard Analysis: Operational Loss &amp; Store Diagnostics</a:t>
            </a:r>
          </a:p>
        </p:txBody>
      </p:sp>
      <p:pic>
        <p:nvPicPr>
          <p:cNvPr id="3" name="Picture 2" descr="input_file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58" y="1067454"/>
            <a:ext cx="11946194" cy="56971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59E5B2E-D9ED-D4A1-5A1F-77E25363DF8A}"/>
              </a:ext>
            </a:extLst>
          </p:cNvPr>
          <p:cNvSpPr txBox="1"/>
          <p:nvPr/>
        </p:nvSpPr>
        <p:spPr>
          <a:xfrm>
            <a:off x="265469" y="678423"/>
            <a:ext cx="10874479" cy="4093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078D4"/>
                </a:solidFill>
              </a:defRPr>
            </a:pPr>
            <a:r>
              <a:rPr lang="en-IN" sz="2400" dirty="0"/>
              <a:t>Inventory Bleed &amp; Parity</a:t>
            </a:r>
          </a:p>
          <a:p>
            <a:pPr>
              <a:defRPr sz="1500" b="1">
                <a:solidFill>
                  <a:srgbClr val="0078D4"/>
                </a:solidFill>
              </a:defRPr>
            </a:pPr>
            <a:endParaRPr lang="en-IN" sz="1600" dirty="0"/>
          </a:p>
          <a:p>
            <a:pPr>
              <a:spcBef>
                <a:spcPts val="800"/>
              </a:spcBef>
              <a:defRPr sz="1000">
                <a:solidFill>
                  <a:srgbClr val="1E1E1E"/>
                </a:solidFill>
              </a:defRPr>
            </a:pPr>
            <a:r>
              <a:rPr lang="en-IN" sz="1600" dirty="0"/>
              <a:t>• Discovered Financial Leak: $1.39M in Waste Costs drives net profit down to -$230.34K.</a:t>
            </a:r>
          </a:p>
          <a:p>
            <a:pPr>
              <a:spcBef>
                <a:spcPts val="800"/>
              </a:spcBef>
              <a:defRPr sz="1000">
                <a:solidFill>
                  <a:srgbClr val="1E1E1E"/>
                </a:solidFill>
              </a:defRPr>
            </a:pPr>
            <a:endParaRPr lang="en-IN" sz="1600" dirty="0"/>
          </a:p>
          <a:p>
            <a:pPr>
              <a:spcBef>
                <a:spcPts val="800"/>
              </a:spcBef>
              <a:defRPr sz="1000">
                <a:solidFill>
                  <a:srgbClr val="1E1E1E"/>
                </a:solidFill>
              </a:defRPr>
            </a:pPr>
            <a:r>
              <a:rPr lang="en-IN" sz="1600" dirty="0"/>
              <a:t>• Primary Loss Bleeders: Cakes (-$110K loss, $515.6K waste) and Dairy (-$110K loss, $182K waste).</a:t>
            </a:r>
          </a:p>
          <a:p>
            <a:pPr>
              <a:spcBef>
                <a:spcPts val="800"/>
              </a:spcBef>
              <a:defRPr sz="1000">
                <a:solidFill>
                  <a:srgbClr val="1E1E1E"/>
                </a:solidFill>
              </a:defRPr>
            </a:pPr>
            <a:endParaRPr lang="en-IN" sz="1600" dirty="0"/>
          </a:p>
          <a:p>
            <a:pPr>
              <a:spcBef>
                <a:spcPts val="800"/>
              </a:spcBef>
              <a:defRPr sz="1000">
                <a:solidFill>
                  <a:srgbClr val="1E1E1E"/>
                </a:solidFill>
              </a:defRPr>
            </a:pPr>
            <a:r>
              <a:rPr lang="en-IN" sz="1600" dirty="0"/>
              <a:t>• Store Parity Analysis: Sales are evenly split across ST02 ($1.2M), ST03 ($1.1M), and ST01 ($1.1M), proving system-wide inventory mis-baking.</a:t>
            </a:r>
          </a:p>
          <a:p>
            <a:pPr>
              <a:spcBef>
                <a:spcPts val="800"/>
              </a:spcBef>
              <a:defRPr sz="1000">
                <a:solidFill>
                  <a:srgbClr val="1E1E1E"/>
                </a:solidFill>
              </a:defRPr>
            </a:pPr>
            <a:endParaRPr lang="en-IN" sz="1600" dirty="0"/>
          </a:p>
          <a:p>
            <a:pPr>
              <a:spcBef>
                <a:spcPts val="800"/>
              </a:spcBef>
              <a:defRPr sz="1000">
                <a:solidFill>
                  <a:srgbClr val="1E1E1E"/>
                </a:solidFill>
              </a:defRPr>
            </a:pPr>
            <a:r>
              <a:rPr lang="en-IN" sz="1600" dirty="0"/>
              <a:t>• Expiry Exposure: 23K items fall under Medium Expiry Risk and 5K items under High Expiry Risk.</a:t>
            </a:r>
          </a:p>
          <a:p>
            <a:pPr>
              <a:spcBef>
                <a:spcPts val="800"/>
              </a:spcBef>
              <a:defRPr sz="1000">
                <a:solidFill>
                  <a:srgbClr val="1E1E1E"/>
                </a:solidFill>
              </a:defRPr>
            </a:pPr>
            <a:endParaRPr lang="en-IN" sz="1600" dirty="0"/>
          </a:p>
          <a:p>
            <a:pPr>
              <a:spcBef>
                <a:spcPts val="800"/>
              </a:spcBef>
              <a:defRPr sz="1000">
                <a:solidFill>
                  <a:srgbClr val="1E1E1E"/>
                </a:solidFill>
              </a:defRPr>
            </a:pPr>
            <a:r>
              <a:rPr lang="en-IN" sz="1600" dirty="0"/>
              <a:t>• Loyalty Opportunity: Non-loyalty buyers represent 64.12% ($2.21M) of gross revenue.</a:t>
            </a:r>
          </a:p>
        </p:txBody>
      </p:sp>
    </p:spTree>
    <p:extLst>
      <p:ext uri="{BB962C8B-B14F-4D97-AF65-F5344CB8AC3E}">
        <p14:creationId xmlns:p14="http://schemas.microsoft.com/office/powerpoint/2010/main" val="23571696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4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tIns="137160" rtlCol="0" anchor="ctr"/>
          <a:lstStyle/>
          <a:p>
            <a:pPr algn="ctr">
              <a:defRPr sz="1100" b="1">
                <a:solidFill>
                  <a:srgbClr val="DC641E"/>
                </a:solidFill>
              </a:defRPr>
            </a:pPr>
            <a:r>
              <a:t>PORTFOLIO CASE STUDY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Comprehensive Category Financial &amp; Waste Matrix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280160"/>
          <a:ext cx="10728655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3161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Category Name</a:t>
                      </a:r>
                    </a:p>
                  </a:txBody>
                  <a:tcPr>
                    <a:solidFill>
                      <a:srgbClr val="1423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Gross Revenue</a:t>
                      </a:r>
                    </a:p>
                  </a:txBody>
                  <a:tcPr>
                    <a:solidFill>
                      <a:srgbClr val="1423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Units Sold</a:t>
                      </a:r>
                    </a:p>
                  </a:txBody>
                  <a:tcPr>
                    <a:solidFill>
                      <a:srgbClr val="1423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Net Profit / (Loss)</a:t>
                      </a:r>
                    </a:p>
                  </a:txBody>
                  <a:tcPr>
                    <a:solidFill>
                      <a:srgbClr val="1423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Waste Cost Exposure</a:t>
                      </a:r>
                    </a:p>
                  </a:txBody>
                  <a:tcPr>
                    <a:solidFill>
                      <a:srgbClr val="1423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1E1E"/>
                          </a:solidFill>
                        </a:defRPr>
                      </a:pPr>
                      <a:r>
                        <a:t>Cakes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1E1E"/>
                          </a:solidFill>
                        </a:defRPr>
                      </a:pPr>
                      <a:r>
                        <a:t>$1,288,747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1E1E"/>
                          </a:solidFill>
                        </a:defRPr>
                      </a:pPr>
                      <a:r>
                        <a:t>4,905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B40000"/>
                          </a:solidFill>
                        </a:defRPr>
                      </a:pPr>
                      <a:r>
                        <a:t>-$107,657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1E1E"/>
                          </a:solidFill>
                        </a:defRPr>
                      </a:pPr>
                      <a:r>
                        <a:t>$515,600 (Critical)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1E1E"/>
                          </a:solidFill>
                        </a:defRPr>
                      </a:pPr>
                      <a:r>
                        <a:t>Spreads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1E1E"/>
                          </a:solidFill>
                        </a:defRPr>
                      </a:pPr>
                      <a:r>
                        <a:t>$471,715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1E1E"/>
                          </a:solidFill>
                        </a:defRPr>
                      </a:pPr>
                      <a:r>
                        <a:t>3,211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B40000"/>
                          </a:solidFill>
                        </a:defRPr>
                      </a:pPr>
                      <a:r>
                        <a:t>-$74,018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1E1E"/>
                          </a:solidFill>
                        </a:defRPr>
                      </a:pPr>
                      <a:r>
                        <a:t>$228,000 (High)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1E1E"/>
                          </a:solidFill>
                        </a:defRPr>
                      </a:pPr>
                      <a:r>
                        <a:t>Dairy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1E1E"/>
                          </a:solidFill>
                        </a:defRPr>
                      </a:pPr>
                      <a:r>
                        <a:t>$362,120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1E1E"/>
                          </a:solidFill>
                        </a:defRPr>
                      </a:pPr>
                      <a:r>
                        <a:t>6,492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B40000"/>
                          </a:solidFill>
                        </a:defRPr>
                      </a:pPr>
                      <a:r>
                        <a:t>-$105,527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1E1E"/>
                          </a:solidFill>
                        </a:defRPr>
                      </a:pPr>
                      <a:r>
                        <a:t>$182,000 (High)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1E1E"/>
                          </a:solidFill>
                        </a:defRPr>
                      </a:pPr>
                      <a:r>
                        <a:t>Beverages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1E1E"/>
                          </a:solidFill>
                        </a:defRPr>
                      </a:pPr>
                      <a:r>
                        <a:t>$356,122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1E1E"/>
                          </a:solidFill>
                        </a:defRPr>
                      </a:pPr>
                      <a:r>
                        <a:t>7,574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0823C"/>
                          </a:solidFill>
                        </a:defRPr>
                      </a:pPr>
                      <a:r>
                        <a:t>+$74,824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1E1E"/>
                          </a:solidFill>
                        </a:defRPr>
                      </a:pPr>
                      <a:r>
                        <a:t>$99,200 (Low / Profitable)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1E1E"/>
                          </a:solidFill>
                        </a:defRPr>
                      </a:pPr>
                      <a:r>
                        <a:t>Biscuits &amp; Cookies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1E1E"/>
                          </a:solidFill>
                        </a:defRPr>
                      </a:pPr>
                      <a:r>
                        <a:t>$253,973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1E1E"/>
                          </a:solidFill>
                        </a:defRPr>
                      </a:pPr>
                      <a:r>
                        <a:t>3,712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B40000"/>
                          </a:solidFill>
                        </a:defRPr>
                      </a:pPr>
                      <a:r>
                        <a:t>-$18,558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1E1E"/>
                          </a:solidFill>
                        </a:defRPr>
                      </a:pPr>
                      <a:r>
                        <a:t>$106,700 (Moderate)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1E1E"/>
                          </a:solidFill>
                        </a:defRPr>
                      </a:pPr>
                      <a:r>
                        <a:t>Savoury Snacks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1E1E"/>
                          </a:solidFill>
                        </a:defRPr>
                      </a:pPr>
                      <a:r>
                        <a:t>$205,350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1E1E"/>
                          </a:solidFill>
                        </a:defRPr>
                      </a:pPr>
                      <a:r>
                        <a:t>4,444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0823C"/>
                          </a:solidFill>
                        </a:defRPr>
                      </a:pPr>
                      <a:r>
                        <a:t>+$2,100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1E1E"/>
                          </a:solidFill>
                        </a:defRPr>
                      </a:pPr>
                      <a:r>
                        <a:t>$85,000 (Moderate)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1E1E"/>
                          </a:solidFill>
                        </a:defRPr>
                      </a:pPr>
                      <a:r>
                        <a:t>Bakery Staples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1E1E"/>
                          </a:solidFill>
                        </a:defRPr>
                      </a:pPr>
                      <a:r>
                        <a:t>$203,040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1E1E"/>
                          </a:solidFill>
                        </a:defRPr>
                      </a:pPr>
                      <a:r>
                        <a:t>5,059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0823C"/>
                          </a:solidFill>
                        </a:defRPr>
                      </a:pPr>
                      <a:r>
                        <a:t>+$1,400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1E1E"/>
                          </a:solidFill>
                        </a:defRPr>
                      </a:pPr>
                      <a:r>
                        <a:t>$72,000 (Low)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1E1E"/>
                          </a:solidFill>
                        </a:defRPr>
                      </a:pPr>
                      <a:r>
                        <a:t>Cupcakes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1E1E"/>
                          </a:solidFill>
                        </a:defRPr>
                      </a:pPr>
                      <a:r>
                        <a:t>$112,310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1E1E"/>
                          </a:solidFill>
                        </a:defRPr>
                      </a:pPr>
                      <a:r>
                        <a:t>3,205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0823C"/>
                          </a:solidFill>
                        </a:defRPr>
                      </a:pPr>
                      <a:r>
                        <a:t>+$3,200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1E1E"/>
                          </a:solidFill>
                        </a:defRPr>
                      </a:pPr>
                      <a:r>
                        <a:t>$45,000 (Low)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1E1E"/>
                          </a:solidFill>
                        </a:defRPr>
                      </a:pPr>
                      <a:r>
                        <a:t>Bakery Snacks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1E1E"/>
                          </a:solidFill>
                        </a:defRPr>
                      </a:pPr>
                      <a:r>
                        <a:t>$105,510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1E1E"/>
                          </a:solidFill>
                        </a:defRPr>
                      </a:pPr>
                      <a:r>
                        <a:t>2,379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0823C"/>
                          </a:solidFill>
                        </a:defRPr>
                      </a:pPr>
                      <a:r>
                        <a:t>+$1,100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1E1E"/>
                          </a:solidFill>
                        </a:defRPr>
                      </a:pPr>
                      <a:r>
                        <a:t>$38,000 (Low)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1E1E"/>
                          </a:solidFill>
                        </a:defRPr>
                      </a:pPr>
                      <a:r>
                        <a:t>Muffins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1E1E"/>
                          </a:solidFill>
                        </a:defRPr>
                      </a:pPr>
                      <a:r>
                        <a:t>$85,220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1E1E"/>
                          </a:solidFill>
                        </a:defRPr>
                      </a:pPr>
                      <a:r>
                        <a:t>1,943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B40000"/>
                          </a:solidFill>
                        </a:defRPr>
                      </a:pPr>
                      <a:r>
                        <a:t>-$2,200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1E1E"/>
                          </a:solidFill>
                        </a:defRPr>
                      </a:pPr>
                      <a:r>
                        <a:t>$18,500 (Low)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4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tIns="137160" rtlCol="0" anchor="ctr"/>
          <a:lstStyle/>
          <a:p>
            <a:pPr algn="ctr">
              <a:defRPr sz="1100" b="1">
                <a:solidFill>
                  <a:srgbClr val="DC641E"/>
                </a:solidFill>
              </a:defRPr>
            </a:pPr>
            <a:r>
              <a:t>PORTFOLIO CASE STUDY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Data Quality, Governance &amp; Data Management Protocols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120640" cy="493776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tIns="228600" rIns="274320" rtlCol="0" anchor="ctr"/>
          <a:lstStyle/>
          <a:p>
            <a:pPr algn="ctr">
              <a:defRPr sz="1500" b="1">
                <a:solidFill>
                  <a:srgbClr val="14233C"/>
                </a:solidFill>
              </a:defRPr>
            </a:pPr>
            <a:r>
              <a:t>Data Quality (DQ) Enforcement</a:t>
            </a:r>
          </a:p>
          <a:p>
            <a:pPr>
              <a:spcBef>
                <a:spcPts val="1400"/>
              </a:spcBef>
              <a:defRPr sz="1150">
                <a:solidFill>
                  <a:srgbClr val="1E1E1E"/>
                </a:solidFill>
              </a:defRPr>
            </a:pPr>
            <a:r>
              <a:t>• Schema Validation: Automated data type checking across all 41 transactional columns.</a:t>
            </a:r>
          </a:p>
          <a:p>
            <a:pPr>
              <a:spcBef>
                <a:spcPts val="1400"/>
              </a:spcBef>
              <a:defRPr sz="1150">
                <a:solidFill>
                  <a:srgbClr val="1E1E1E"/>
                </a:solidFill>
              </a:defRPr>
            </a:pPr>
            <a:r>
              <a:t>• Anomaly Detection: Flagged negative transaction totals and unmapped store IDs.</a:t>
            </a:r>
          </a:p>
          <a:p>
            <a:pPr>
              <a:spcBef>
                <a:spcPts val="1400"/>
              </a:spcBef>
              <a:defRPr sz="1150">
                <a:solidFill>
                  <a:srgbClr val="1E1E1E"/>
                </a:solidFill>
              </a:defRPr>
            </a:pPr>
            <a:r>
              <a:t>• Null Value Imputation: Imputed missing customer demographic attributes with fallback tags.</a:t>
            </a:r>
          </a:p>
          <a:p>
            <a:pPr>
              <a:spcBef>
                <a:spcPts val="1400"/>
              </a:spcBef>
              <a:defRPr sz="1150">
                <a:solidFill>
                  <a:srgbClr val="1E1E1E"/>
                </a:solidFill>
              </a:defRPr>
            </a:pPr>
            <a:r>
              <a:t>• Deduplication: Verified transaction hash keys to prevent duplicate order counting.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0" y="1371600"/>
            <a:ext cx="5120640" cy="493776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tIns="228600" rIns="274320" rtlCol="0" anchor="ctr"/>
          <a:lstStyle/>
          <a:p>
            <a:pPr algn="ctr">
              <a:defRPr sz="1500" b="1">
                <a:solidFill>
                  <a:srgbClr val="14233C"/>
                </a:solidFill>
              </a:defRPr>
            </a:pPr>
            <a:r>
              <a:t>Data Governance Framework</a:t>
            </a:r>
          </a:p>
          <a:p>
            <a:pPr>
              <a:spcBef>
                <a:spcPts val="1400"/>
              </a:spcBef>
              <a:defRPr sz="1150">
                <a:solidFill>
                  <a:srgbClr val="1E1E1E"/>
                </a:solidFill>
              </a:defRPr>
            </a:pPr>
            <a:r>
              <a:t>• Single Source of Truth: Built a consolidated PostgreSQL warehouse structure.</a:t>
            </a:r>
          </a:p>
          <a:p>
            <a:pPr>
              <a:spcBef>
                <a:spcPts val="1400"/>
              </a:spcBef>
              <a:defRPr sz="1150">
                <a:solidFill>
                  <a:srgbClr val="1E1E1E"/>
                </a:solidFill>
              </a:defRPr>
            </a:pPr>
            <a:r>
              <a:t>• Consistent Business Logic: Centralized DAX and SQL measures for Gross Revenue, AOV, and Waste.</a:t>
            </a:r>
          </a:p>
          <a:p>
            <a:pPr>
              <a:spcBef>
                <a:spcPts val="1400"/>
              </a:spcBef>
              <a:defRPr sz="1150">
                <a:solidFill>
                  <a:srgbClr val="1E1E1E"/>
                </a:solidFill>
              </a:defRPr>
            </a:pPr>
            <a:r>
              <a:t>• Metadata Documentation: Maintained clear data dictionaries for line-of-business stakeholders.</a:t>
            </a:r>
          </a:p>
          <a:p>
            <a:pPr>
              <a:spcBef>
                <a:spcPts val="1400"/>
              </a:spcBef>
              <a:defRPr sz="1150">
                <a:solidFill>
                  <a:srgbClr val="1E1E1E"/>
                </a:solidFill>
              </a:defRPr>
            </a:pPr>
            <a:r>
              <a:t>• Role-Based Access Control: Modeled row-level security for individual store managers.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4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tIns="137160" rtlCol="0" anchor="ctr"/>
          <a:lstStyle/>
          <a:p>
            <a:pPr algn="ctr">
              <a:defRPr sz="1100" b="1">
                <a:solidFill>
                  <a:srgbClr val="DC641E"/>
                </a:solidFill>
              </a:defRPr>
            </a:pPr>
            <a:r>
              <a:t>PORTFOLIO CASE STUDY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Strategic Recommendations &amp; Projected ROI Roadmap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280160"/>
            <a:ext cx="10728655" cy="1051560"/>
          </a:xfrm>
          <a:prstGeom prst="roundRect">
            <a:avLst/>
          </a:prstGeom>
          <a:solidFill>
            <a:srgbClr val="F5F7FA"/>
          </a:solidFill>
          <a:ln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tIns="91440" rtlCol="0" anchor="ctr"/>
          <a:lstStyle/>
          <a:p>
            <a:pPr algn="ctr">
              <a:defRPr sz="1350" b="1">
                <a:solidFill>
                  <a:srgbClr val="14233C"/>
                </a:solidFill>
              </a:defRPr>
            </a:pPr>
            <a:r>
              <a:t>1. Dynamic Daily Batch Baking</a:t>
            </a:r>
          </a:p>
          <a:p>
            <a:pPr>
              <a:defRPr sz="1050">
                <a:solidFill>
                  <a:srgbClr val="1E1E1E"/>
                </a:solidFill>
              </a:defRPr>
            </a:pPr>
            <a:r>
              <a:t>Action: Shift short shelf-life items (Cakes &amp; Dairy) from static weekly baking to daily prediction models.</a:t>
            </a:r>
          </a:p>
          <a:p>
            <a:pPr>
              <a:defRPr sz="1050" b="1">
                <a:solidFill>
                  <a:srgbClr val="00823C"/>
                </a:solidFill>
              </a:defRPr>
            </a:pPr>
            <a:r>
              <a:t>Impact: Reduces waste cost by 35%-40% (~$486K annual savings).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514600"/>
            <a:ext cx="10728655" cy="1051560"/>
          </a:xfrm>
          <a:prstGeom prst="roundRect">
            <a:avLst/>
          </a:prstGeom>
          <a:solidFill>
            <a:srgbClr val="F5F7FA"/>
          </a:solidFill>
          <a:ln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tIns="91440" rtlCol="0" anchor="ctr"/>
          <a:lstStyle/>
          <a:p>
            <a:pPr algn="ctr">
              <a:defRPr sz="1350" b="1">
                <a:solidFill>
                  <a:srgbClr val="14233C"/>
                </a:solidFill>
              </a:defRPr>
            </a:pPr>
            <a:r>
              <a:t>2. High-Margin Product Bundling</a:t>
            </a:r>
          </a:p>
          <a:p>
            <a:pPr>
              <a:defRPr sz="1050">
                <a:solidFill>
                  <a:srgbClr val="1E1E1E"/>
                </a:solidFill>
              </a:defRPr>
            </a:pPr>
            <a:r>
              <a:t>Action: Bundle high-demand Beverages (+$74.8K profit) with higher-margin bakery items.</a:t>
            </a:r>
          </a:p>
          <a:p>
            <a:pPr>
              <a:defRPr sz="1050" b="1">
                <a:solidFill>
                  <a:srgbClr val="00823C"/>
                </a:solidFill>
              </a:defRPr>
            </a:pPr>
            <a:r>
              <a:t>Impact: Boosts average order margin by 12%-15%.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749039"/>
            <a:ext cx="10728655" cy="1051560"/>
          </a:xfrm>
          <a:prstGeom prst="roundRect">
            <a:avLst/>
          </a:prstGeom>
          <a:solidFill>
            <a:srgbClr val="F5F7FA"/>
          </a:solidFill>
          <a:ln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tIns="91440" rtlCol="0" anchor="ctr"/>
          <a:lstStyle/>
          <a:p>
            <a:pPr algn="ctr">
              <a:defRPr sz="1350" b="1">
                <a:solidFill>
                  <a:srgbClr val="14233C"/>
                </a:solidFill>
              </a:defRPr>
            </a:pPr>
            <a:r>
              <a:t>3. Targeted Loyalty Onboarding</a:t>
            </a:r>
          </a:p>
          <a:p>
            <a:pPr>
              <a:defRPr sz="1050">
                <a:solidFill>
                  <a:srgbClr val="1E1E1E"/>
                </a:solidFill>
              </a:defRPr>
            </a:pPr>
            <a:r>
              <a:t>Action: Incentivize checkout sign-ups for the 64.12% non-loyalty segment ($2.21M sales).</a:t>
            </a:r>
          </a:p>
          <a:p>
            <a:pPr>
              <a:defRPr sz="1050" b="1">
                <a:solidFill>
                  <a:srgbClr val="00823C"/>
                </a:solidFill>
              </a:defRPr>
            </a:pPr>
            <a:r>
              <a:t>Impact: Increases customer retention and repeat visits by 20%.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983480"/>
            <a:ext cx="10728655" cy="1051560"/>
          </a:xfrm>
          <a:prstGeom prst="roundRect">
            <a:avLst/>
          </a:prstGeom>
          <a:solidFill>
            <a:srgbClr val="F5F7FA"/>
          </a:solidFill>
          <a:ln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tIns="91440" rtlCol="0" anchor="ctr"/>
          <a:lstStyle/>
          <a:p>
            <a:pPr algn="ctr">
              <a:defRPr sz="1350" b="1">
                <a:solidFill>
                  <a:srgbClr val="14233C"/>
                </a:solidFill>
              </a:defRPr>
            </a:pPr>
            <a:r>
              <a:t>4. Total Financial Turnaround</a:t>
            </a:r>
          </a:p>
          <a:p>
            <a:pPr>
              <a:defRPr sz="1050">
                <a:solidFill>
                  <a:srgbClr val="1E1E1E"/>
                </a:solidFill>
              </a:defRPr>
            </a:pPr>
            <a:r>
              <a:t>Action: Execute all recommendations across all 3 stores within a 12-month rollout.</a:t>
            </a:r>
          </a:p>
          <a:p>
            <a:pPr>
              <a:defRPr sz="1050" b="1">
                <a:solidFill>
                  <a:srgbClr val="00823C"/>
                </a:solidFill>
              </a:defRPr>
            </a:pPr>
            <a:r>
              <a:t>Impact: Flips business from -$230.34K loss to +$255,000 net profit.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4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tIns="137160" rtlCol="0" anchor="ctr"/>
          <a:lstStyle/>
          <a:p>
            <a:pPr algn="ctr">
              <a:defRPr sz="1100" b="1">
                <a:solidFill>
                  <a:srgbClr val="DC641E"/>
                </a:solidFill>
              </a:defRPr>
            </a:pPr>
            <a:r>
              <a:t>ANALYST DETAILS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Candidate Profile &amp; Portfolio Overview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97280" y="1371600"/>
            <a:ext cx="9997135" cy="4937760"/>
          </a:xfrm>
          <a:prstGeom prst="roundRect">
            <a:avLst/>
          </a:prstGeom>
          <a:solidFill>
            <a:srgbClr val="14233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tIns="365760" rtlCol="0" anchor="ctr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Hanraj Hari Krishna</a:t>
            </a:r>
          </a:p>
          <a:p>
            <a:pPr>
              <a:spcBef>
                <a:spcPts val="600"/>
              </a:spcBef>
              <a:defRPr sz="1300">
                <a:solidFill>
                  <a:srgbClr val="DC641E"/>
                </a:solidFill>
              </a:defRPr>
            </a:pPr>
            <a:r>
              <a:t>Data Analyst | Data Management | Data Quality &amp; Governance | SQL | Power BI | Advanced Excel</a:t>
            </a:r>
          </a:p>
          <a:p>
            <a:pPr>
              <a:spcBef>
                <a:spcPts val="1000"/>
              </a:spcBef>
              <a:defRPr sz="1150">
                <a:solidFill>
                  <a:srgbClr val="DCE6F5"/>
                </a:solidFill>
              </a:defRPr>
            </a:pPr>
            <a:r>
              <a:t>📍 Location: Hyderabad, India</a:t>
            </a:r>
          </a:p>
          <a:p>
            <a:pPr>
              <a:spcBef>
                <a:spcPts val="1000"/>
              </a:spcBef>
              <a:defRPr sz="1150">
                <a:solidFill>
                  <a:srgbClr val="DCE6F5"/>
                </a:solidFill>
              </a:defRPr>
            </a:pPr>
            <a:r>
              <a:t>📧 Email: hanrajharikrishna@gmail.com</a:t>
            </a:r>
          </a:p>
          <a:p>
            <a:pPr>
              <a:spcBef>
                <a:spcPts val="1000"/>
              </a:spcBef>
              <a:defRPr sz="1150">
                <a:solidFill>
                  <a:srgbClr val="DCE6F5"/>
                </a:solidFill>
              </a:defRPr>
            </a:pPr>
            <a:r>
              <a:t>🔗 LinkedIn: linkedin.com/in/hari-krishna-178397145</a:t>
            </a:r>
          </a:p>
          <a:p>
            <a:pPr>
              <a:spcBef>
                <a:spcPts val="1000"/>
              </a:spcBef>
              <a:defRPr sz="1150">
                <a:solidFill>
                  <a:srgbClr val="DCE6F5"/>
                </a:solidFill>
              </a:defRPr>
            </a:pPr>
            <a:r>
              <a:t>💻 GitHub: github.com/harikrishna-analytics</a:t>
            </a:r>
          </a:p>
          <a:p>
            <a:pPr>
              <a:spcBef>
                <a:spcPts val="1000"/>
              </a:spcBef>
              <a:defRPr sz="1150">
                <a:solidFill>
                  <a:srgbClr val="DCE6F5"/>
                </a:solidFill>
              </a:defRPr>
            </a:pPr>
            <a:r>
              <a:t>🛠️ Core Tech Stack: Python (Pandas, Data Cleaning, EDA) • SQL (PostgreSQL Aggregations, CTEs) • Power BI (DAX, Dashboards) • Advanced Excel</a:t>
            </a:r>
          </a:p>
          <a:p>
            <a:pPr>
              <a:spcBef>
                <a:spcPts val="1000"/>
              </a:spcBef>
              <a:defRPr sz="1150">
                <a:solidFill>
                  <a:srgbClr val="DCE6F5"/>
                </a:solidFill>
              </a:defRPr>
            </a:pPr>
            <a:r>
              <a:t>🎯 Core Competencies: Data Governance, Data Quality Validation, End-to-End Analytics Pipeline, Root Cause Loss Diagnostics, Financial Recovery Modeling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1378</Words>
  <Application>Microsoft Office PowerPoint</Application>
  <PresentationFormat>Widescreen</PresentationFormat>
  <Paragraphs>176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Hari krishna</cp:lastModifiedBy>
  <cp:revision>3</cp:revision>
  <dcterms:created xsi:type="dcterms:W3CDTF">2013-01-27T09:14:16Z</dcterms:created>
  <dcterms:modified xsi:type="dcterms:W3CDTF">2026-09-28T14:48:27Z</dcterms:modified>
  <cp:category/>
</cp:coreProperties>
</file>